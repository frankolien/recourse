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cours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1234440"/>
            <a:ext cx="9144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2331720"/>
            <a:ext cx="94484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5200" b="0">
                <a:solidFill>
                  <a:srgbClr val="17221D"/>
                </a:solidFill>
                <a:latin typeface="Georgia"/>
              </a:rPr>
              <a:t>Recourse</a:t>
            </a:r>
          </a:p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2600" b="0">
                <a:solidFill>
                  <a:srgbClr val="17221D"/>
                </a:solidFill>
                <a:latin typeface="Georgia"/>
              </a:rPr>
              <a:t>Buyer protection for </a:t>
            </a:r>
            <a:r>
              <a:rPr sz="2600" b="0">
                <a:solidFill>
                  <a:srgbClr val="0D7656"/>
                </a:solidFill>
                <a:latin typeface="Georgia"/>
              </a:rPr>
              <a:t>USDC payments.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15E58"/>
                </a:solidFill>
                <a:latin typeface="Arial"/>
              </a:rPr>
              <a:t>Disputes are computed, not decided.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85135" y="5120640"/>
            <a:ext cx="1920240" cy="402336"/>
          </a:xfrm>
          <a:prstGeom prst="roundRect">
            <a:avLst>
              <a:gd name="adj" fmla="val 50000"/>
            </a:avLst>
          </a:prstGeom>
          <a:solidFill>
            <a:srgbClr val="EA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85135" y="5175504"/>
            <a:ext cx="1920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D7656"/>
                </a:solidFill>
                <a:latin typeface="Arial"/>
              </a:rPr>
              <a:t>Live on Arc Testnet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69967" y="5120640"/>
            <a:ext cx="2331720" cy="402336"/>
          </a:xfrm>
          <a:prstGeom prst="roundRect">
            <a:avLst>
              <a:gd name="adj" fmla="val 50000"/>
            </a:avLst>
          </a:prstGeom>
          <a:solidFill>
            <a:srgbClr val="EA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69967" y="5175504"/>
            <a:ext cx="2331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D7656"/>
                </a:solidFill>
                <a:latin typeface="Arial"/>
              </a:rPr>
              <a:t>Build on Arc · DeFi Track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6279" y="5120640"/>
            <a:ext cx="2240280" cy="402336"/>
          </a:xfrm>
          <a:prstGeom prst="roundRect">
            <a:avLst>
              <a:gd name="adj" fmla="val 50000"/>
            </a:avLst>
          </a:prstGeom>
          <a:solidFill>
            <a:srgbClr val="EA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6279" y="5175504"/>
            <a:ext cx="22402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D7656"/>
                </a:solidFill>
                <a:latin typeface="Arial"/>
              </a:rPr>
              <a:t>Solo build · Frank Olien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6172200"/>
            <a:ext cx="94484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15E58"/>
                </a:solidFill>
                <a:latin typeface="Arial"/>
              </a:rPr>
              <a:t>recourse-arc.vercel.app  ·  github.com/frankolien/recourse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D7656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54577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17221D"/>
                </a:solidFill>
                <a:latin typeface="Georgia"/>
              </a:rPr>
              <a:t>Stablecoin commerce has no safety net.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8521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0D7656"/>
                </a:solidFill>
                <a:latin typeface="Arial"/>
              </a:rPr>
              <a:t>•  </a:t>
            </a:r>
            <a:r>
              <a:rPr sz="1400" b="1">
                <a:solidFill>
                  <a:srgbClr val="17221D"/>
                </a:solidFill>
                <a:latin typeface="Arial"/>
              </a:rPr>
              <a:t>Card rails work because buyers can dispute. </a:t>
            </a:r>
            <a:r>
              <a:rPr sz="1400" b="0">
                <a:solidFill>
                  <a:srgbClr val="515E58"/>
                </a:solidFill>
                <a:latin typeface="Arial"/>
              </a:rPr>
              <a:t>Chargebacks are why strangers transact with strangers.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0D7656"/>
                </a:solidFill>
                <a:latin typeface="Arial"/>
              </a:rPr>
              <a:t>•  </a:t>
            </a:r>
            <a:r>
              <a:rPr sz="1400" b="1">
                <a:solidFill>
                  <a:srgbClr val="17221D"/>
                </a:solidFill>
                <a:latin typeface="Arial"/>
              </a:rPr>
              <a:t>A USDC payment is final the moment it lands. </a:t>
            </a:r>
            <a:r>
              <a:rPr sz="1400" b="0">
                <a:solidFill>
                  <a:srgbClr val="515E58"/>
                </a:solidFill>
                <a:latin typeface="Arial"/>
              </a:rPr>
              <a:t>Send first, hope later. That finality is exactly why most people will not use crypto for commerce.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0D7656"/>
                </a:solidFill>
                <a:latin typeface="Arial"/>
              </a:rPr>
              <a:t>•  </a:t>
            </a:r>
            <a:r>
              <a:rPr sz="1400" b="1">
                <a:solidFill>
                  <a:srgbClr val="17221D"/>
                </a:solidFill>
                <a:latin typeface="Arial"/>
              </a:rPr>
              <a:t>Merchants have no credible way to promise refunds. </a:t>
            </a:r>
            <a:r>
              <a:rPr sz="1400" b="0">
                <a:solidFill>
                  <a:srgbClr val="515E58"/>
                </a:solidFill>
                <a:latin typeface="Arial"/>
              </a:rPr>
              <a:t>A refund policy on a website is a promise, not a mechanism.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0D7656"/>
                </a:solidFill>
                <a:latin typeface="Arial"/>
              </a:rPr>
              <a:t>•  </a:t>
            </a:r>
            <a:r>
              <a:rPr sz="1400" b="1">
                <a:solidFill>
                  <a:srgbClr val="17221D"/>
                </a:solidFill>
                <a:latin typeface="Arial"/>
              </a:rPr>
              <a:t>Circle named this problem. </a:t>
            </a:r>
            <a:r>
              <a:rPr sz="1400" b="0">
                <a:solidFill>
                  <a:srgbClr val="515E58"/>
                </a:solidFill>
                <a:latin typeface="Arial"/>
              </a:rPr>
              <a:t>Circle Research published the Refund Protocol (April 2025) and listed its open problems publicly. Recourse is a working answer, built on Arc.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874519"/>
            <a:ext cx="4416552" cy="2148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0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240280"/>
            <a:ext cx="3685032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100" b="1">
                <a:solidFill>
                  <a:srgbClr val="0D7656"/>
                </a:solidFill>
                <a:latin typeface="Arial"/>
              </a:rPr>
              <a:t>WHO DECIDES A DISPUTE?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7221D"/>
                </a:solidFill>
                <a:latin typeface="Arial"/>
              </a:rPr>
              <a:t>Card networks   </a:t>
            </a:r>
            <a:r>
              <a:rPr sz="1400" b="0">
                <a:solidFill>
                  <a:srgbClr val="515E58"/>
                </a:solidFill>
                <a:latin typeface="Arial"/>
              </a:rPr>
              <a:t>the bank decides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7221D"/>
                </a:solidFill>
                <a:latin typeface="Arial"/>
              </a:rPr>
              <a:t>Crypto today      </a:t>
            </a:r>
            <a:r>
              <a:rPr sz="1400" b="0">
                <a:solidFill>
                  <a:srgbClr val="515E58"/>
                </a:solidFill>
                <a:latin typeface="Arial"/>
              </a:rPr>
              <a:t>nobody decides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7221D"/>
                </a:solidFill>
                <a:latin typeface="Arial"/>
              </a:rPr>
              <a:t>Recourse           </a:t>
            </a:r>
            <a:r>
              <a:rPr sz="1400" b="1">
                <a:solidFill>
                  <a:srgbClr val="0D7656"/>
                </a:solidFill>
                <a:latin typeface="Arial"/>
              </a:rPr>
              <a:t>the policy decides,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7656"/>
                </a:solidFill>
                <a:latin typeface="Arial"/>
              </a:rPr>
              <a:t>and anyone can recompute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15E58"/>
                </a:solidFill>
                <a:latin typeface="Arial"/>
              </a:rPr>
              <a:t>Recourse · Build on Arc · DeFi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15E5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D7656"/>
                </a:solidFill>
                <a:latin typeface="Arial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54577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17221D"/>
                </a:solidFill>
                <a:latin typeface="Georgia"/>
              </a:rPr>
              <a:t>Disputes are computed, not decided.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45775" cy="868680"/>
          </a:xfrm>
          <a:prstGeom prst="roundRect">
            <a:avLst>
              <a:gd name="adj" fmla="val 18000"/>
            </a:avLst>
          </a:prstGeom>
          <a:solidFill>
            <a:srgbClr val="172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4577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ourier New"/>
              </a:rPr>
              <a:t>verdict = f(policy, claim, evidence, attestation, timing)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63240"/>
            <a:ext cx="3392424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0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2843784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7221D"/>
                </a:solidFill>
                <a:latin typeface="Georgia"/>
              </a:rPr>
              <a:t>Immutable policy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15E58"/>
                </a:solidFill>
                <a:latin typeface="Arial"/>
              </a:rPr>
              <a:t>A merchant publishes refund rules onchain, once. Every payment escrows USDC under the exact policy hash it was made against. Nothing can change after money moves.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3063240"/>
            <a:ext cx="3392424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0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3383280"/>
            <a:ext cx="2843784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7221D"/>
                </a:solidFill>
                <a:latin typeface="Georgia"/>
              </a:rPr>
              <a:t>Pure function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15E58"/>
                </a:solidFill>
                <a:latin typeface="Arial"/>
              </a:rPr>
              <a:t>First matching rule sets the refund in basis points; the default is zero. No support agent, no platform discretion, no backend able to put a thumb on the scale.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3063240"/>
            <a:ext cx="3392424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0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3383280"/>
            <a:ext cx="2843784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7221D"/>
                </a:solidFill>
                <a:latin typeface="Georgia"/>
              </a:rPr>
              <a:t>Recomputable by anyone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15E58"/>
                </a:solidFill>
                <a:latin typeface="Arial"/>
              </a:rPr>
              <a:t>Every verdict is a deterministic function of public state. Rerun it yourself and you get the same bytes, hash for hash.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15E58"/>
                </a:solidFill>
                <a:latin typeface="Arial"/>
              </a:rPr>
              <a:t>Recourse · Build on Arc · DeFi Track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15E5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D7656"/>
                </a:solidFill>
                <a:latin typeface="Arial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54577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17221D"/>
                </a:solidFill>
                <a:latin typeface="Georgia"/>
              </a:rPr>
              <a:t>A protected payment, end to 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2002536" cy="23317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0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21945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D7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12848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154533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7221D"/>
                </a:solidFill>
                <a:latin typeface="Arial"/>
              </a:rPr>
              <a:t>Publish policy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15E58"/>
                </a:solidFill>
                <a:latin typeface="Arial"/>
              </a:rPr>
              <a:t>Merchant locks refund rules onchain. Immutable from that moment.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48940" y="1920240"/>
            <a:ext cx="2002536" cy="23317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0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77540" y="21945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D7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7540" y="2212848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7540" y="2788920"/>
            <a:ext cx="154533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7221D"/>
                </a:solidFill>
                <a:latin typeface="Arial"/>
              </a:rPr>
              <a:t>Scan and pay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15E58"/>
                </a:solidFill>
                <a:latin typeface="Arial"/>
              </a:rPr>
              <a:t>Buyer scans a checkout QR, the phone verifies the hash-bound order, USDC escrows under the policy.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920240"/>
            <a:ext cx="2002536" cy="23317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0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03520" y="21945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D7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2212848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788920"/>
            <a:ext cx="154533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7221D"/>
                </a:solidFill>
                <a:latin typeface="Arial"/>
              </a:rPr>
              <a:t>Report a problem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15E58"/>
                </a:solidFill>
                <a:latin typeface="Arial"/>
              </a:rPr>
              <a:t>Buyer files a claim in the window with Face ID-signed photo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00900" y="1920240"/>
            <a:ext cx="2002536" cy="23317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0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29500" y="21945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D7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29500" y="2212848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9500" y="2788920"/>
            <a:ext cx="154533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7221D"/>
                </a:solidFill>
                <a:latin typeface="Arial"/>
              </a:rPr>
              <a:t>Attest the facts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15E58"/>
                </a:solidFill>
                <a:latin typeface="Arial"/>
              </a:rPr>
              <a:t>An attestor asserts a narrow fact: delivered or not. Never the outcome.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1920240"/>
            <a:ext cx="2002536" cy="23317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0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555480" y="21945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D7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5480" y="2212848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2788920"/>
            <a:ext cx="154533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7221D"/>
                </a:solidFill>
                <a:latin typeface="Arial"/>
              </a:rPr>
              <a:t>Verdict settles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15E58"/>
                </a:solidFill>
                <a:latin typeface="Arial"/>
              </a:rPr>
              <a:t>The policy engine computes the refund split and moves the funds. Done.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526280"/>
            <a:ext cx="10545775" cy="731520"/>
          </a:xfrm>
          <a:prstGeom prst="roundRect">
            <a:avLst>
              <a:gd name="adj" fmla="val 20000"/>
            </a:avLst>
          </a:prstGeom>
          <a:solidFill>
            <a:srgbClr val="EA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526280"/>
            <a:ext cx="981425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D7656"/>
                </a:solidFill>
                <a:latin typeface="Arial"/>
              </a:rPr>
              <a:t>Meanwhile: </a:t>
            </a:r>
            <a:r>
              <a:rPr sz="1250" b="0">
                <a:solidFill>
                  <a:srgbClr val="17221D"/>
                </a:solidFill>
                <a:latin typeface="Arial"/>
              </a:rPr>
              <a:t>the settlement vault pays the merchant at T+0, and escrowed funds earn USYC yield for the whole dispute window.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15E58"/>
                </a:solidFill>
                <a:latin typeface="Arial"/>
              </a:rPr>
              <a:t>Recourse · Build on Arc · DeFi Track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09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15E5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D7656"/>
                </a:solidFill>
                <a:latin typeface="Arial"/>
              </a:rPr>
              <a:t>WHY YOU CAN TRUST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54577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17221D"/>
                </a:solidFill>
                <a:latin typeface="Georgia"/>
              </a:rPr>
              <a:t>One verdict function, three independent engines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3392424" cy="1645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0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284378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17221D"/>
                </a:solidFill>
                <a:latin typeface="Georgia"/>
              </a:rPr>
              <a:t>Solidity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515E58"/>
                </a:solidFill>
                <a:latin typeface="Arial"/>
              </a:rPr>
              <a:t>Canonical. The verdict that actually moves funds, computed onchain.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D7656"/>
                </a:solidFill>
                <a:latin typeface="Courier New"/>
              </a:rPr>
              <a:t>contracts/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920240"/>
            <a:ext cx="3392424" cy="1645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0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1728" y="2240280"/>
            <a:ext cx="284378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17221D"/>
                </a:solidFill>
                <a:latin typeface="Georgia"/>
              </a:rPr>
              <a:t>TypeScript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515E58"/>
                </a:solidFill>
                <a:latin typeface="Arial"/>
              </a:rPr>
              <a:t>Recomputed live in your browser on the public verifier.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D7656"/>
                </a:solidFill>
                <a:latin typeface="Courier New"/>
              </a:rPr>
              <a:t>engine/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91856" y="1920240"/>
            <a:ext cx="3392424" cy="1645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0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66176" y="2240280"/>
            <a:ext cx="284378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17221D"/>
                </a:solidFill>
                <a:latin typeface="Georgia"/>
              </a:rPr>
              <a:t>Swift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515E58"/>
                </a:solidFill>
                <a:latin typeface="Arial"/>
              </a:rPr>
              <a:t>Recomputed on the buyer's phone inside the iOS app.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D7656"/>
                </a:solidFill>
                <a:latin typeface="Courier New"/>
              </a:rPr>
              <a:t>mobile/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77639"/>
            <a:ext cx="105457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0D7656"/>
                </a:solidFill>
                <a:latin typeface="Arial"/>
              </a:rPr>
              <a:t>•  </a:t>
            </a:r>
            <a:r>
              <a:rPr sz="1300" b="1">
                <a:solidFill>
                  <a:srgbClr val="17221D"/>
                </a:solidFill>
                <a:latin typeface="Arial"/>
              </a:rPr>
              <a:t>14 golden vectors </a:t>
            </a:r>
            <a:r>
              <a:rPr sz="1300" b="0">
                <a:solidFill>
                  <a:srgbClr val="515E58"/>
                </a:solidFill>
                <a:latin typeface="Arial"/>
              </a:rPr>
              <a:t>asserted by forge and vitest in the same commit whenever the engine changes. The three implementations must agree byte for byte.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0D7656"/>
                </a:solidFill>
                <a:latin typeface="Arial"/>
              </a:rPr>
              <a:t>•  </a:t>
            </a:r>
            <a:r>
              <a:rPr sz="1300" b="1">
                <a:solidFill>
                  <a:srgbClr val="17221D"/>
                </a:solidFill>
                <a:latin typeface="Arial"/>
              </a:rPr>
              <a:t>The pitch is literal: </a:t>
            </a:r>
            <a:r>
              <a:rPr sz="1300" b="0">
                <a:solidFill>
                  <a:srgbClr val="515E58"/>
                </a:solidFill>
                <a:latin typeface="Arial"/>
              </a:rPr>
              <a:t>do not trust the verdict, recompute it. The verifier shows the Solidity hash and the browser hash matching, live at recourse-arc.vercel.app/verify/13.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15E58"/>
                </a:solidFill>
                <a:latin typeface="Arial"/>
              </a:rPr>
              <a:t>Recourse · Build on Arc · DeFi Track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15E5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D7656"/>
                </a:solidFill>
                <a:latin typeface="Arial"/>
              </a:rPr>
              <a:t>NOT A MOCK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54577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17221D"/>
                </a:solidFill>
                <a:latin typeface="Georgia"/>
              </a:rPr>
              <a:t>All three outcomes have already settled on Arc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3392424" cy="2240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0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2843784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50" b="1">
                <a:solidFill>
                  <a:srgbClr val="0D7656"/>
                </a:solidFill>
                <a:latin typeface="Arial"/>
              </a:rPr>
              <a:t>PAYMENT #13 · $5.20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0">
                <a:solidFill>
                  <a:srgbClr val="17221D"/>
                </a:solidFill>
                <a:latin typeface="Georgia"/>
              </a:rPr>
              <a:t>A buyer got refunded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50" b="0">
                <a:solidFill>
                  <a:srgbClr val="515E58"/>
                </a:solidFill>
                <a:latin typeface="Arial"/>
              </a:rPr>
              <a:t>Disputed as Not delivered from a physical iPhone, attested, rule 0 matched: 100 percent refund. Exactly 5.20 USDC landed back in the buyer's wallet.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221D"/>
                </a:solidFill>
                <a:latin typeface="Courier New"/>
              </a:rPr>
              <a:t>resolve 0x6c9eabc8..485351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874519"/>
            <a:ext cx="3392424" cy="2240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0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1728" y="2194560"/>
            <a:ext cx="2843784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50" b="1">
                <a:solidFill>
                  <a:srgbClr val="0D7656"/>
                </a:solidFill>
                <a:latin typeface="Arial"/>
              </a:rPr>
              <a:t>PAYMENT #15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0">
                <a:solidFill>
                  <a:srgbClr val="17221D"/>
                </a:solidFill>
                <a:latin typeface="Georgia"/>
              </a:rPr>
              <a:t>A bad claim got denied, provably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50" b="0">
                <a:solidFill>
                  <a:srgbClr val="515E58"/>
                </a:solidFill>
                <a:latin typeface="Arial"/>
              </a:rPr>
              <a:t>Wrong item is not covered by its policy. No rule matched, the deterministic default (0 bps) applied. The merchant received the funds plus the yield earned while disputed.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221D"/>
                </a:solidFill>
                <a:latin typeface="Courier New"/>
              </a:rPr>
              <a:t>resolve 0x209890e6..5e5408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91856" y="1874519"/>
            <a:ext cx="3392424" cy="2240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0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66176" y="2194560"/>
            <a:ext cx="2843784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50" b="1">
                <a:solidFill>
                  <a:srgbClr val="0D7656"/>
                </a:solidFill>
                <a:latin typeface="Arial"/>
              </a:rPr>
              <a:t>PAYMENT #14 · $7.00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0">
                <a:solidFill>
                  <a:srgbClr val="17221D"/>
                </a:solidFill>
                <a:latin typeface="Georgia"/>
              </a:rPr>
              <a:t>A merchant got paid at T+0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50" b="0">
                <a:solidFill>
                  <a:srgbClr val="515E58"/>
                </a:solidFill>
                <a:latin typeface="Arial"/>
              </a:rPr>
              <a:t>Escrowed until Aug 7, but the vault advanced $6.93 the same minute (1 percent fee) and took assignment of the escrow claim.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221D"/>
                </a:solidFill>
                <a:latin typeface="Courier New"/>
              </a:rPr>
              <a:t>advance 0xa2411d96..4fb1b8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15E58"/>
                </a:solidFill>
                <a:latin typeface="Arial"/>
              </a:rPr>
              <a:t>Chain 5042002 · every attestor run and settlement is logged with its hashes in the repo · 17 payments indexed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15E58"/>
                </a:solidFill>
                <a:latin typeface="Arial"/>
              </a:rPr>
              <a:t>Recourse · Build on Arc · DeFi Track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15E5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D7656"/>
                </a:solidFill>
                <a:latin typeface="Arial"/>
              </a:rPr>
              <a:t>THE DEFI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54577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17221D"/>
                </a:solidFill>
                <a:latin typeface="Georgia"/>
              </a:rPr>
              <a:t>A settlement vault turns protection into a yield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7607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0D7656"/>
                </a:solidFill>
                <a:latin typeface="Arial"/>
              </a:rPr>
              <a:t>•  </a:t>
            </a:r>
            <a:r>
              <a:rPr sz="1350" b="1">
                <a:solidFill>
                  <a:srgbClr val="17221D"/>
                </a:solidFill>
                <a:latin typeface="Arial"/>
              </a:rPr>
              <a:t>LPs deposit USDC </a:t>
            </a:r>
            <a:r>
              <a:rPr sz="1350" b="0">
                <a:solidFill>
                  <a:srgbClr val="515E58"/>
                </a:solidFill>
                <a:latin typeface="Arial"/>
              </a:rPr>
              <a:t>into the settlement vault and fund instant merchant payouts.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0D7656"/>
                </a:solidFill>
                <a:latin typeface="Arial"/>
              </a:rPr>
              <a:t>•  </a:t>
            </a:r>
            <a:r>
              <a:rPr sz="1350" b="1">
                <a:solidFill>
                  <a:srgbClr val="17221D"/>
                </a:solidFill>
                <a:latin typeface="Arial"/>
              </a:rPr>
              <a:t>T+0 advances. </a:t>
            </a:r>
            <a:r>
              <a:rPr sz="1350" b="0">
                <a:solidFill>
                  <a:srgbClr val="515E58"/>
                </a:solidFill>
                <a:latin typeface="Arial"/>
              </a:rPr>
              <a:t>The vault pays the merchant net of a 1 percent fee the moment escrow opens, and takes assignment of the escrow claim.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0D7656"/>
                </a:solidFill>
                <a:latin typeface="Arial"/>
              </a:rPr>
              <a:t>•  </a:t>
            </a:r>
            <a:r>
              <a:rPr sz="1350" b="1">
                <a:solidFill>
                  <a:srgbClr val="17221D"/>
                </a:solidFill>
                <a:latin typeface="Arial"/>
              </a:rPr>
              <a:t>Productive escrow. </a:t>
            </a:r>
            <a:r>
              <a:rPr sz="1350" b="0">
                <a:solidFill>
                  <a:srgbClr val="515E58"/>
                </a:solidFill>
                <a:latin typeface="Arial"/>
              </a:rPr>
              <a:t>While disputed, escrowed funds sit in a USYC-style yield adapter. Yield splits between beneficiary and protocol treasury at settlement.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0D7656"/>
                </a:solidFill>
                <a:latin typeface="Arial"/>
              </a:rPr>
              <a:t>•  </a:t>
            </a:r>
            <a:r>
              <a:rPr sz="1350" b="1">
                <a:solidFill>
                  <a:srgbClr val="17221D"/>
                </a:solidFill>
                <a:latin typeface="Arial"/>
              </a:rPr>
              <a:t>Bounded risk. </a:t>
            </a:r>
            <a:r>
              <a:rPr sz="1350" b="0">
                <a:solidFill>
                  <a:srgbClr val="515E58"/>
                </a:solidFill>
                <a:latin typeface="Arial"/>
              </a:rPr>
              <a:t>Refund losses are capped by immutable policies and per-merchant exposure caps. Every term is inspectable onchain.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874519"/>
            <a:ext cx="4507992" cy="1554480"/>
          </a:xfrm>
          <a:prstGeom prst="roundRect">
            <a:avLst>
              <a:gd name="adj" fmla="val 12000"/>
            </a:avLst>
          </a:prstGeom>
          <a:solidFill>
            <a:srgbClr val="172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78040" y="1874519"/>
            <a:ext cx="3867912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8FB8A8"/>
                </a:solidFill>
                <a:latin typeface="Arial"/>
              </a:rPr>
              <a:t>LP RETURN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ourier New"/>
              </a:rPr>
              <a:t>advance fees + float yield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ourier New"/>
              </a:rPr>
              <a:t>- refund losses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3657600"/>
            <a:ext cx="4507992" cy="1920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0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3931920"/>
            <a:ext cx="386791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50" b="1">
                <a:solidFill>
                  <a:srgbClr val="0D7656"/>
                </a:solidFill>
                <a:latin typeface="Arial"/>
              </a:rPr>
              <a:t>LIVE, ON ONE BOOKED ADVANCE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515E58"/>
                </a:solidFill>
                <a:latin typeface="Arial"/>
              </a:rPr>
              <a:t>Share price  </a:t>
            </a:r>
            <a:r>
              <a:rPr sz="1400" b="1">
                <a:solidFill>
                  <a:srgbClr val="17221D"/>
                </a:solidFill>
                <a:latin typeface="Courier New"/>
              </a:rPr>
              <a:t>1.000312 → 1.009064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15E58"/>
                </a:solidFill>
                <a:latin typeface="Arial"/>
              </a:rPr>
              <a:t>Merchant received $6.93 of $7.00 at T+0; the vault collects the full escrow at settlement.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15E58"/>
                </a:solidFill>
                <a:latin typeface="Arial"/>
              </a:rPr>
              <a:t>Recourse · Build on Arc · DeFi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15E5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D7656"/>
                </a:solidFill>
                <a:latin typeface="Arial"/>
              </a:rPr>
              <a:t>WHO IT SERVES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54577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17221D"/>
                </a:solidFill>
                <a:latin typeface="Georgia"/>
              </a:rPr>
              <a:t>A three-sided market, all live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3392424" cy="2606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0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2843784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17221D"/>
                </a:solidFill>
                <a:latin typeface="Georgia"/>
              </a:rPr>
              <a:t>Buyers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000" b="1">
                <a:solidFill>
                  <a:srgbClr val="0D7656"/>
                </a:solidFill>
                <a:latin typeface="Arial"/>
              </a:rPr>
              <a:t>NATIVE SWIFTUI IOS APP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0D7656"/>
                </a:solidFill>
                <a:latin typeface="Arial"/>
              </a:rPr>
              <a:t>•  </a:t>
            </a:r>
            <a:r>
              <a:rPr sz="1150" b="0">
                <a:solidFill>
                  <a:srgbClr val="515E58"/>
                </a:solidFill>
                <a:latin typeface="Arial"/>
              </a:rPr>
              <a:t>Secure Enclave device wallet, no seed phrase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0D7656"/>
                </a:solidFill>
                <a:latin typeface="Arial"/>
              </a:rPr>
              <a:t>•  </a:t>
            </a:r>
            <a:r>
              <a:rPr sz="1150" b="0">
                <a:solidFill>
                  <a:srgbClr val="515E58"/>
                </a:solidFill>
                <a:latin typeface="Arial"/>
              </a:rPr>
              <a:t>Camera-scannable checkout QRs with verified order review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0D7656"/>
                </a:solidFill>
                <a:latin typeface="Arial"/>
              </a:rPr>
              <a:t>•  </a:t>
            </a:r>
            <a:r>
              <a:rPr sz="1150" b="0">
                <a:solidFill>
                  <a:srgbClr val="515E58"/>
                </a:solidFill>
                <a:latin typeface="Arial"/>
              </a:rPr>
              <a:t>Face ID-signed evidence upload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0D7656"/>
                </a:solidFill>
                <a:latin typeface="Arial"/>
              </a:rPr>
              <a:t>•  </a:t>
            </a:r>
            <a:r>
              <a:rPr sz="1150" b="0">
                <a:solidFill>
                  <a:srgbClr val="515E58"/>
                </a:solidFill>
                <a:latin typeface="Arial"/>
              </a:rPr>
              <a:t>Receipts whose outcomes are recomputable on the phone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920240"/>
            <a:ext cx="3392424" cy="2606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0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1728" y="2240280"/>
            <a:ext cx="2843784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17221D"/>
                </a:solidFill>
                <a:latin typeface="Georgia"/>
              </a:rPr>
              <a:t>Merchants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000" b="1">
                <a:solidFill>
                  <a:srgbClr val="0D7656"/>
                </a:solidFill>
                <a:latin typeface="Arial"/>
              </a:rPr>
              <a:t>IOS + WEB WORKSPACE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0D7656"/>
                </a:solidFill>
                <a:latin typeface="Arial"/>
              </a:rPr>
              <a:t>•  </a:t>
            </a:r>
            <a:r>
              <a:rPr sz="1150" b="0">
                <a:solidFill>
                  <a:srgbClr val="515E58"/>
                </a:solidFill>
                <a:latin typeface="Arial"/>
              </a:rPr>
              <a:t>Publish immutable refund policies once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0D7656"/>
                </a:solidFill>
                <a:latin typeface="Arial"/>
              </a:rPr>
              <a:t>•  </a:t>
            </a:r>
            <a:r>
              <a:rPr sz="1150" b="0">
                <a:solidFill>
                  <a:srgbClr val="515E58"/>
                </a:solidFill>
                <a:latin typeface="Arial"/>
              </a:rPr>
              <a:t>Checkout QRs with hash-bound order details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0D7656"/>
                </a:solidFill>
                <a:latin typeface="Arial"/>
              </a:rPr>
              <a:t>•  </a:t>
            </a:r>
            <a:r>
              <a:rPr sz="1150" b="0">
                <a:solidFill>
                  <a:srgbClr val="515E58"/>
                </a:solidFill>
                <a:latin typeface="Arial"/>
              </a:rPr>
              <a:t>Paid instantly through the vault at T+0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0D7656"/>
                </a:solidFill>
                <a:latin typeface="Arial"/>
              </a:rPr>
              <a:t>•  </a:t>
            </a:r>
            <a:r>
              <a:rPr sz="1150" b="0">
                <a:solidFill>
                  <a:srgbClr val="515E58"/>
                </a:solidFill>
                <a:latin typeface="Arial"/>
              </a:rPr>
              <a:t>Buyer keeps the full protection window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91856" y="1920240"/>
            <a:ext cx="3392424" cy="2606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0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66176" y="2240280"/>
            <a:ext cx="2843784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17221D"/>
                </a:solidFill>
                <a:latin typeface="Georgia"/>
              </a:rPr>
              <a:t>Liquidity providers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000" b="1">
                <a:solidFill>
                  <a:srgbClr val="0D7656"/>
                </a:solidFill>
                <a:latin typeface="Arial"/>
              </a:rPr>
              <a:t>THE VAULT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0D7656"/>
                </a:solidFill>
                <a:latin typeface="Arial"/>
              </a:rPr>
              <a:t>•  </a:t>
            </a:r>
            <a:r>
              <a:rPr sz="1150" b="0">
                <a:solidFill>
                  <a:srgbClr val="515E58"/>
                </a:solidFill>
                <a:latin typeface="Arial"/>
              </a:rPr>
              <a:t>Deposit USDC, fund merchant advances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0D7656"/>
                </a:solidFill>
                <a:latin typeface="Arial"/>
              </a:rPr>
              <a:t>•  </a:t>
            </a:r>
            <a:r>
              <a:rPr sz="1150" b="0">
                <a:solidFill>
                  <a:srgbClr val="515E58"/>
                </a:solidFill>
                <a:latin typeface="Arial"/>
              </a:rPr>
              <a:t>Earn advance fees plus USYC float yield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0D7656"/>
                </a:solidFill>
                <a:latin typeface="Arial"/>
              </a:rPr>
              <a:t>•  </a:t>
            </a:r>
            <a:r>
              <a:rPr sz="1150" b="0">
                <a:solidFill>
                  <a:srgbClr val="515E58"/>
                </a:solidFill>
                <a:latin typeface="Arial"/>
              </a:rPr>
              <a:t>Losses bounded by policies and exposure caps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0D7656"/>
                </a:solidFill>
                <a:latin typeface="Arial"/>
              </a:rPr>
              <a:t>•  </a:t>
            </a:r>
            <a:r>
              <a:rPr sz="1150" b="0">
                <a:solidFill>
                  <a:srgbClr val="515E58"/>
                </a:solidFill>
                <a:latin typeface="Arial"/>
              </a:rPr>
              <a:t>Live TVL and share price on /vault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15E58"/>
                </a:solidFill>
                <a:latin typeface="Arial"/>
              </a:rPr>
              <a:t>Recourse · Build on Arc · DeFi Track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15E58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D7656"/>
                </a:solidFill>
                <a:latin typeface="Arial"/>
              </a:rPr>
              <a:t>LIVE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54577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17221D"/>
                </a:solidFill>
                <a:latin typeface="Georgia"/>
              </a:rPr>
              <a:t>Try it before you judge it</a:t>
            </a:r>
          </a:p>
        </p:txBody>
      </p:sp>
      <p:pic>
        <p:nvPicPr>
          <p:cNvPr id="5" name="Picture 4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1755648" cy="3806342"/>
          </a:xfrm>
          <a:prstGeom prst="rect">
            <a:avLst/>
          </a:prstGeom>
        </p:spPr>
      </p:pic>
      <p:pic>
        <p:nvPicPr>
          <p:cNvPr id="6" name="Picture 5" descr="pay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1965960"/>
            <a:ext cx="1755648" cy="3806342"/>
          </a:xfrm>
          <a:prstGeom prst="rect">
            <a:avLst/>
          </a:prstGeom>
        </p:spPr>
      </p:pic>
      <p:pic>
        <p:nvPicPr>
          <p:cNvPr id="7" name="Picture 6" descr="verif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965960"/>
            <a:ext cx="1755648" cy="38063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03720" y="2011680"/>
            <a:ext cx="44805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D7656"/>
                </a:solidFill>
                <a:latin typeface="Courier New"/>
              </a:rPr>
              <a:t>recourse-arc.vercel.app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150" b="0">
                <a:solidFill>
                  <a:srgbClr val="515E58"/>
                </a:solidFill>
                <a:latin typeface="Arial"/>
              </a:rPr>
              <a:t>Landing, merchant workspace, live dashboard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D7656"/>
                </a:solidFill>
                <a:latin typeface="Courier New"/>
              </a:rPr>
              <a:t>/verify/13  ·  /verify/15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150" b="0">
                <a:solidFill>
                  <a:srgbClr val="515E58"/>
                </a:solidFill>
                <a:latin typeface="Arial"/>
              </a:rPr>
              <a:t>Public verifier: refund and denial, hashes matching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D7656"/>
                </a:solidFill>
                <a:latin typeface="Courier New"/>
              </a:rPr>
              <a:t>/vault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150" b="0">
                <a:solidFill>
                  <a:srgbClr val="515E58"/>
                </a:solidFill>
                <a:latin typeface="Arial"/>
              </a:rPr>
              <a:t>LP vault: live TVL, share price, open advances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D7656"/>
                </a:solidFill>
                <a:latin typeface="Courier New"/>
              </a:rPr>
              <a:t>/litepaper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150" b="0">
                <a:solidFill>
                  <a:srgbClr val="515E58"/>
                </a:solidFill>
                <a:latin typeface="Arial"/>
              </a:rPr>
              <a:t>Full protocol litepaper, v0.1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D7656"/>
                </a:solidFill>
                <a:latin typeface="Courier New"/>
              </a:rPr>
              <a:t>api.frankolien.com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150" b="0">
                <a:solidFill>
                  <a:srgbClr val="515E58"/>
                </a:solidFill>
                <a:latin typeface="Arial"/>
              </a:rPr>
              <a:t>Rust indexer + read API, holds no business logic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D7656"/>
                </a:solidFill>
                <a:latin typeface="Courier New"/>
              </a:rPr>
              <a:t>github.com/frankolien/recourse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150" b="0">
                <a:solidFill>
                  <a:srgbClr val="515E58"/>
                </a:solidFill>
                <a:latin typeface="Arial"/>
              </a:rPr>
              <a:t>Contracts, engines, iOS, web, backend, ops 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15E58"/>
                </a:solidFill>
                <a:latin typeface="Arial"/>
              </a:rPr>
              <a:t>Recourse · Build on Arc · DeFi Track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15E58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D7656"/>
                </a:solidFill>
                <a:latin typeface="Arial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54577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17221D"/>
                </a:solidFill>
                <a:latin typeface="Georgia"/>
              </a:rPr>
              <a:t>Where it is, and the honest path to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5175504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0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94560"/>
            <a:ext cx="4535424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050" b="1">
                <a:solidFill>
                  <a:srgbClr val="0D7656"/>
                </a:solidFill>
                <a:latin typeface="Arial"/>
              </a:rPr>
              <a:t>SHIPPED, SOLO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D7656"/>
                </a:solidFill>
                <a:latin typeface="Arial"/>
              </a:rPr>
              <a:t>•  </a:t>
            </a:r>
            <a:r>
              <a:rPr sz="1250" b="0">
                <a:solidFill>
                  <a:srgbClr val="515E58"/>
                </a:solidFill>
                <a:latin typeface="Arial"/>
              </a:rPr>
              <a:t>Contracts live on Arc testnet: escrow, policy engine + registry, settlement vault, yield adapter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D7656"/>
                </a:solidFill>
                <a:latin typeface="Arial"/>
              </a:rPr>
              <a:t>•  </a:t>
            </a:r>
            <a:r>
              <a:rPr sz="1250" b="0">
                <a:solidFill>
                  <a:srgbClr val="515E58"/>
                </a:solidFill>
                <a:latin typeface="Arial"/>
              </a:rPr>
              <a:t>Verdict engine in Solidity, TypeScript, and Swift with cross-asserted golden vectors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D7656"/>
                </a:solidFill>
                <a:latin typeface="Arial"/>
              </a:rPr>
              <a:t>•  </a:t>
            </a:r>
            <a:r>
              <a:rPr sz="1250" b="0">
                <a:solidFill>
                  <a:srgbClr val="515E58"/>
                </a:solidFill>
                <a:latin typeface="Arial"/>
              </a:rPr>
              <a:t>Native iOS wallet, web workspace, public verifier, Rust indexer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D7656"/>
                </a:solidFill>
                <a:latin typeface="Arial"/>
              </a:rPr>
              <a:t>•  </a:t>
            </a:r>
            <a:r>
              <a:rPr sz="1250" b="0">
                <a:solidFill>
                  <a:srgbClr val="515E58"/>
                </a:solidFill>
                <a:latin typeface="Arial"/>
              </a:rPr>
              <a:t>All three market outcomes settled onchain, hashes logged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1874519"/>
            <a:ext cx="5175504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0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0528" y="2194560"/>
            <a:ext cx="4535424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050" b="1">
                <a:solidFill>
                  <a:srgbClr val="0D7656"/>
                </a:solidFill>
                <a:latin typeface="Arial"/>
              </a:rPr>
              <a:t>KNOWN LIMITS · NEXT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D7656"/>
                </a:solidFill>
                <a:latin typeface="Arial"/>
              </a:rPr>
              <a:t>•  </a:t>
            </a:r>
            <a:r>
              <a:rPr sz="1250" b="0">
                <a:solidFill>
                  <a:srgbClr val="515E58"/>
                </a:solidFill>
                <a:latin typeface="Arial"/>
              </a:rPr>
              <a:t>Single demo attestor today; the design already bounds what any attestor can do. Next: N-of-M delivery oracles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D7656"/>
                </a:solidFill>
                <a:latin typeface="Arial"/>
              </a:rPr>
              <a:t>•  </a:t>
            </a:r>
            <a:r>
              <a:rPr sz="1250" b="0">
                <a:solidFill>
                  <a:srgbClr val="515E58"/>
                </a:solidFill>
                <a:latin typeface="Arial"/>
              </a:rPr>
              <a:t>Yield adapter mocks USYC until Teller access is approved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D7656"/>
                </a:solidFill>
                <a:latin typeface="Arial"/>
              </a:rPr>
              <a:t>•  </a:t>
            </a:r>
            <a:r>
              <a:rPr sz="1250" b="0">
                <a:solidFill>
                  <a:srgbClr val="515E58"/>
                </a:solidFill>
                <a:latin typeface="Arial"/>
              </a:rPr>
              <a:t>Vault needs inflation-attack hardening; contracts are unaudited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D7656"/>
                </a:solidFill>
                <a:latin typeface="Arial"/>
              </a:rPr>
              <a:t>•  </a:t>
            </a:r>
            <a:r>
              <a:rPr sz="1250" b="0">
                <a:solidFill>
                  <a:srgbClr val="515E58"/>
                </a:solidFill>
                <a:latin typeface="Arial"/>
              </a:rPr>
              <a:t>The trust model came first: everything the backend does is reproducible from public state or breaks a hash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7656"/>
                </a:solidFill>
                <a:latin typeface="Arial"/>
              </a:rPr>
              <a:t>recourse-arc.vercel.app</a:t>
            </a:r>
            <a:r>
              <a:rPr sz="1300" b="0">
                <a:solidFill>
                  <a:srgbClr val="515E58"/>
                </a:solidFill>
                <a:latin typeface="Arial"/>
              </a:rPr>
              <a:t>   ·   github.com/frankolien/recourse   ·   Frank Olien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15E58"/>
                </a:solidFill>
                <a:latin typeface="Arial"/>
              </a:rPr>
              <a:t>Recourse · Build on Arc · DeFi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15E58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